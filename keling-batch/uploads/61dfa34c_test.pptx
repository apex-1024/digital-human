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7406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741045"/>
          </a:xfrm>
          <a:custGeom>
            <a:avLst/>
            <a:gdLst/>
            <a:ahLst/>
            <a:cxnLst/>
            <a:rect l="l" t="t" r="r" b="b"/>
            <a:pathLst>
              <a:path w="12192000" h="741045">
                <a:moveTo>
                  <a:pt x="12192000" y="0"/>
                </a:moveTo>
                <a:lnTo>
                  <a:pt x="0" y="0"/>
                </a:lnTo>
                <a:lnTo>
                  <a:pt x="0" y="740663"/>
                </a:lnTo>
                <a:lnTo>
                  <a:pt x="12192000" y="74066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6A8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89915" y="213740"/>
            <a:ext cx="321310" cy="321310"/>
          </a:xfrm>
          <a:custGeom>
            <a:avLst/>
            <a:gdLst/>
            <a:ahLst/>
            <a:cxnLst/>
            <a:rect l="l" t="t" r="r" b="b"/>
            <a:pathLst>
              <a:path w="321309" h="321309">
                <a:moveTo>
                  <a:pt x="199390" y="0"/>
                </a:moveTo>
                <a:lnTo>
                  <a:pt x="0" y="121665"/>
                </a:lnTo>
                <a:lnTo>
                  <a:pt x="121615" y="321055"/>
                </a:lnTo>
                <a:lnTo>
                  <a:pt x="321005" y="199389"/>
                </a:lnTo>
                <a:lnTo>
                  <a:pt x="199390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85610" y="413130"/>
            <a:ext cx="225425" cy="229235"/>
          </a:xfrm>
          <a:custGeom>
            <a:avLst/>
            <a:gdLst/>
            <a:ahLst/>
            <a:cxnLst/>
            <a:rect l="l" t="t" r="r" b="b"/>
            <a:pathLst>
              <a:path w="225425" h="229234">
                <a:moveTo>
                  <a:pt x="225310" y="0"/>
                </a:moveTo>
                <a:lnTo>
                  <a:pt x="25920" y="121666"/>
                </a:lnTo>
                <a:lnTo>
                  <a:pt x="0" y="228727"/>
                </a:lnTo>
                <a:lnTo>
                  <a:pt x="199390" y="107061"/>
                </a:lnTo>
                <a:lnTo>
                  <a:pt x="225310" y="0"/>
                </a:lnTo>
                <a:close/>
              </a:path>
            </a:pathLst>
          </a:custGeom>
          <a:solidFill>
            <a:srgbClr val="CDCDCD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63994" y="335406"/>
            <a:ext cx="147955" cy="306705"/>
          </a:xfrm>
          <a:custGeom>
            <a:avLst/>
            <a:gdLst/>
            <a:ahLst/>
            <a:cxnLst/>
            <a:rect l="l" t="t" r="r" b="b"/>
            <a:pathLst>
              <a:path w="147954" h="306705">
                <a:moveTo>
                  <a:pt x="25920" y="0"/>
                </a:moveTo>
                <a:lnTo>
                  <a:pt x="0" y="107061"/>
                </a:lnTo>
                <a:lnTo>
                  <a:pt x="121615" y="306451"/>
                </a:lnTo>
                <a:lnTo>
                  <a:pt x="147535" y="199390"/>
                </a:lnTo>
                <a:lnTo>
                  <a:pt x="25920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107" y="111505"/>
            <a:ext cx="151641" cy="18707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5863" y="51765"/>
            <a:ext cx="3780790" cy="903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1581" y="2812120"/>
            <a:ext cx="214629" cy="917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586" y="157733"/>
            <a:ext cx="327152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（一）</a:t>
            </a:r>
            <a:r>
              <a:rPr sz="3200" b="1" spc="-45" dirty="0">
                <a:solidFill>
                  <a:srgbClr val="FFFFFF"/>
                </a:solidFill>
                <a:latin typeface="Microsoft YaHei"/>
                <a:cs typeface="Microsoft YaHei"/>
              </a:rPr>
              <a:t>问题的提出</a:t>
            </a:r>
            <a:endParaRPr sz="3200">
              <a:latin typeface="Microsoft YaHei"/>
              <a:cs typeface="Microsoft YaHe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7991" y="1121663"/>
            <a:ext cx="9549765" cy="780415"/>
            <a:chOff x="697991" y="1121663"/>
            <a:chExt cx="9549765" cy="780415"/>
          </a:xfrm>
        </p:grpSpPr>
        <p:sp>
          <p:nvSpPr>
            <p:cNvPr id="4" name="object 4"/>
            <p:cNvSpPr/>
            <p:nvPr/>
          </p:nvSpPr>
          <p:spPr>
            <a:xfrm>
              <a:off x="794183" y="1271015"/>
              <a:ext cx="248285" cy="439420"/>
            </a:xfrm>
            <a:custGeom>
              <a:avLst/>
              <a:gdLst/>
              <a:ahLst/>
              <a:cxnLst/>
              <a:rect l="l" t="t" r="r" b="b"/>
              <a:pathLst>
                <a:path w="248284" h="439419">
                  <a:moveTo>
                    <a:pt x="226712" y="61213"/>
                  </a:moveTo>
                  <a:lnTo>
                    <a:pt x="116685" y="61213"/>
                  </a:lnTo>
                  <a:lnTo>
                    <a:pt x="144391" y="66603"/>
                  </a:lnTo>
                  <a:lnTo>
                    <a:pt x="167189" y="81573"/>
                  </a:lnTo>
                  <a:lnTo>
                    <a:pt x="182495" y="103862"/>
                  </a:lnTo>
                  <a:lnTo>
                    <a:pt x="188148" y="131825"/>
                  </a:lnTo>
                  <a:lnTo>
                    <a:pt x="182495" y="159174"/>
                  </a:lnTo>
                  <a:lnTo>
                    <a:pt x="167119" y="181451"/>
                  </a:lnTo>
                  <a:lnTo>
                    <a:pt x="144391" y="196441"/>
                  </a:lnTo>
                  <a:lnTo>
                    <a:pt x="116685" y="201930"/>
                  </a:lnTo>
                  <a:lnTo>
                    <a:pt x="105270" y="204462"/>
                  </a:lnTo>
                  <a:lnTo>
                    <a:pt x="95573" y="211232"/>
                  </a:lnTo>
                  <a:lnTo>
                    <a:pt x="88841" y="221003"/>
                  </a:lnTo>
                  <a:lnTo>
                    <a:pt x="86320" y="232537"/>
                  </a:lnTo>
                  <a:lnTo>
                    <a:pt x="86320" y="233172"/>
                  </a:lnTo>
                  <a:lnTo>
                    <a:pt x="86955" y="233807"/>
                  </a:lnTo>
                  <a:lnTo>
                    <a:pt x="86955" y="234442"/>
                  </a:lnTo>
                  <a:lnTo>
                    <a:pt x="86320" y="234442"/>
                  </a:lnTo>
                  <a:lnTo>
                    <a:pt x="86320" y="300736"/>
                  </a:lnTo>
                  <a:lnTo>
                    <a:pt x="88841" y="312731"/>
                  </a:lnTo>
                  <a:lnTo>
                    <a:pt x="95573" y="322405"/>
                  </a:lnTo>
                  <a:lnTo>
                    <a:pt x="105270" y="328864"/>
                  </a:lnTo>
                  <a:lnTo>
                    <a:pt x="116685" y="331216"/>
                  </a:lnTo>
                  <a:lnTo>
                    <a:pt x="128996" y="328864"/>
                  </a:lnTo>
                  <a:lnTo>
                    <a:pt x="138818" y="322405"/>
                  </a:lnTo>
                  <a:lnTo>
                    <a:pt x="145321" y="312731"/>
                  </a:lnTo>
                  <a:lnTo>
                    <a:pt x="147673" y="300736"/>
                  </a:lnTo>
                  <a:lnTo>
                    <a:pt x="147673" y="259207"/>
                  </a:lnTo>
                  <a:lnTo>
                    <a:pt x="187667" y="242375"/>
                  </a:lnTo>
                  <a:lnTo>
                    <a:pt x="219536" y="213709"/>
                  </a:lnTo>
                  <a:lnTo>
                    <a:pt x="240614" y="175946"/>
                  </a:lnTo>
                  <a:lnTo>
                    <a:pt x="248232" y="131825"/>
                  </a:lnTo>
                  <a:lnTo>
                    <a:pt x="241533" y="89976"/>
                  </a:lnTo>
                  <a:lnTo>
                    <a:pt x="226712" y="61213"/>
                  </a:lnTo>
                  <a:close/>
                </a:path>
                <a:path w="248284" h="439419">
                  <a:moveTo>
                    <a:pt x="116685" y="0"/>
                  </a:moveTo>
                  <a:lnTo>
                    <a:pt x="50668" y="17938"/>
                  </a:lnTo>
                  <a:lnTo>
                    <a:pt x="4100" y="65024"/>
                  </a:lnTo>
                  <a:lnTo>
                    <a:pt x="0" y="76753"/>
                  </a:lnTo>
                  <a:lnTo>
                    <a:pt x="701" y="88376"/>
                  </a:lnTo>
                  <a:lnTo>
                    <a:pt x="5791" y="98831"/>
                  </a:lnTo>
                  <a:lnTo>
                    <a:pt x="14857" y="107061"/>
                  </a:lnTo>
                  <a:lnTo>
                    <a:pt x="26366" y="111166"/>
                  </a:lnTo>
                  <a:lnTo>
                    <a:pt x="38174" y="110378"/>
                  </a:lnTo>
                  <a:lnTo>
                    <a:pt x="48915" y="105042"/>
                  </a:lnTo>
                  <a:lnTo>
                    <a:pt x="57224" y="95504"/>
                  </a:lnTo>
                  <a:lnTo>
                    <a:pt x="67763" y="81573"/>
                  </a:lnTo>
                  <a:lnTo>
                    <a:pt x="81740" y="70738"/>
                  </a:lnTo>
                  <a:lnTo>
                    <a:pt x="98324" y="63714"/>
                  </a:lnTo>
                  <a:lnTo>
                    <a:pt x="116685" y="61213"/>
                  </a:lnTo>
                  <a:lnTo>
                    <a:pt x="226712" y="61213"/>
                  </a:lnTo>
                  <a:lnTo>
                    <a:pt x="222875" y="53766"/>
                  </a:lnTo>
                  <a:lnTo>
                    <a:pt x="194410" y="25298"/>
                  </a:lnTo>
                  <a:lnTo>
                    <a:pt x="158296" y="6675"/>
                  </a:lnTo>
                  <a:lnTo>
                    <a:pt x="116685" y="0"/>
                  </a:lnTo>
                  <a:close/>
                </a:path>
                <a:path w="248284" h="439419">
                  <a:moveTo>
                    <a:pt x="116685" y="366268"/>
                  </a:moveTo>
                  <a:lnTo>
                    <a:pt x="105270" y="368728"/>
                  </a:lnTo>
                  <a:lnTo>
                    <a:pt x="95573" y="375380"/>
                  </a:lnTo>
                  <a:lnTo>
                    <a:pt x="88841" y="385127"/>
                  </a:lnTo>
                  <a:lnTo>
                    <a:pt x="86320" y="396875"/>
                  </a:lnTo>
                  <a:lnTo>
                    <a:pt x="86320" y="408305"/>
                  </a:lnTo>
                  <a:lnTo>
                    <a:pt x="88841" y="420641"/>
                  </a:lnTo>
                  <a:lnTo>
                    <a:pt x="95573" y="430323"/>
                  </a:lnTo>
                  <a:lnTo>
                    <a:pt x="105270" y="436647"/>
                  </a:lnTo>
                  <a:lnTo>
                    <a:pt x="116685" y="438912"/>
                  </a:lnTo>
                  <a:lnTo>
                    <a:pt x="128996" y="436647"/>
                  </a:lnTo>
                  <a:lnTo>
                    <a:pt x="138818" y="430323"/>
                  </a:lnTo>
                  <a:lnTo>
                    <a:pt x="145321" y="420641"/>
                  </a:lnTo>
                  <a:lnTo>
                    <a:pt x="147673" y="408305"/>
                  </a:lnTo>
                  <a:lnTo>
                    <a:pt x="147673" y="396875"/>
                  </a:lnTo>
                  <a:lnTo>
                    <a:pt x="145321" y="385127"/>
                  </a:lnTo>
                  <a:lnTo>
                    <a:pt x="138818" y="375380"/>
                  </a:lnTo>
                  <a:lnTo>
                    <a:pt x="128996" y="368728"/>
                  </a:lnTo>
                  <a:lnTo>
                    <a:pt x="116685" y="366268"/>
                  </a:lnTo>
                  <a:close/>
                </a:path>
              </a:pathLst>
            </a:custGeom>
            <a:solidFill>
              <a:srgbClr val="C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5946" y="1271015"/>
              <a:ext cx="251460" cy="439420"/>
            </a:xfrm>
            <a:custGeom>
              <a:avLst/>
              <a:gdLst/>
              <a:ahLst/>
              <a:cxnLst/>
              <a:rect l="l" t="t" r="r" b="b"/>
              <a:pathLst>
                <a:path w="251459" h="439419">
                  <a:moveTo>
                    <a:pt x="229288" y="61213"/>
                  </a:moveTo>
                  <a:lnTo>
                    <a:pt x="118095" y="61213"/>
                  </a:lnTo>
                  <a:lnTo>
                    <a:pt x="146040" y="66603"/>
                  </a:lnTo>
                  <a:lnTo>
                    <a:pt x="168894" y="81573"/>
                  </a:lnTo>
                  <a:lnTo>
                    <a:pt x="184166" y="103862"/>
                  </a:lnTo>
                  <a:lnTo>
                    <a:pt x="189787" y="131825"/>
                  </a:lnTo>
                  <a:lnTo>
                    <a:pt x="184166" y="159174"/>
                  </a:lnTo>
                  <a:lnTo>
                    <a:pt x="168824" y="181451"/>
                  </a:lnTo>
                  <a:lnTo>
                    <a:pt x="146040" y="196441"/>
                  </a:lnTo>
                  <a:lnTo>
                    <a:pt x="118095" y="201930"/>
                  </a:lnTo>
                  <a:lnTo>
                    <a:pt x="106271" y="204462"/>
                  </a:lnTo>
                  <a:lnTo>
                    <a:pt x="96491" y="211232"/>
                  </a:lnTo>
                  <a:lnTo>
                    <a:pt x="89833" y="221003"/>
                  </a:lnTo>
                  <a:lnTo>
                    <a:pt x="87374" y="232537"/>
                  </a:lnTo>
                  <a:lnTo>
                    <a:pt x="87374" y="233172"/>
                  </a:lnTo>
                  <a:lnTo>
                    <a:pt x="88009" y="233807"/>
                  </a:lnTo>
                  <a:lnTo>
                    <a:pt x="88009" y="234442"/>
                  </a:lnTo>
                  <a:lnTo>
                    <a:pt x="87374" y="234442"/>
                  </a:lnTo>
                  <a:lnTo>
                    <a:pt x="87374" y="300736"/>
                  </a:lnTo>
                  <a:lnTo>
                    <a:pt x="89833" y="312731"/>
                  </a:lnTo>
                  <a:lnTo>
                    <a:pt x="96491" y="322405"/>
                  </a:lnTo>
                  <a:lnTo>
                    <a:pt x="106271" y="328864"/>
                  </a:lnTo>
                  <a:lnTo>
                    <a:pt x="118095" y="331216"/>
                  </a:lnTo>
                  <a:lnTo>
                    <a:pt x="130455" y="328864"/>
                  </a:lnTo>
                  <a:lnTo>
                    <a:pt x="140176" y="322405"/>
                  </a:lnTo>
                  <a:lnTo>
                    <a:pt x="146536" y="312731"/>
                  </a:lnTo>
                  <a:lnTo>
                    <a:pt x="148816" y="300736"/>
                  </a:lnTo>
                  <a:lnTo>
                    <a:pt x="148816" y="259207"/>
                  </a:lnTo>
                  <a:lnTo>
                    <a:pt x="189662" y="242375"/>
                  </a:lnTo>
                  <a:lnTo>
                    <a:pt x="222106" y="213709"/>
                  </a:lnTo>
                  <a:lnTo>
                    <a:pt x="243509" y="175946"/>
                  </a:lnTo>
                  <a:lnTo>
                    <a:pt x="251229" y="131825"/>
                  </a:lnTo>
                  <a:lnTo>
                    <a:pt x="244387" y="89976"/>
                  </a:lnTo>
                  <a:lnTo>
                    <a:pt x="229288" y="61213"/>
                  </a:lnTo>
                  <a:close/>
                </a:path>
                <a:path w="251459" h="439419">
                  <a:moveTo>
                    <a:pt x="118095" y="0"/>
                  </a:moveTo>
                  <a:lnTo>
                    <a:pt x="51285" y="17938"/>
                  </a:lnTo>
                  <a:lnTo>
                    <a:pt x="4163" y="65024"/>
                  </a:lnTo>
                  <a:lnTo>
                    <a:pt x="0" y="76753"/>
                  </a:lnTo>
                  <a:lnTo>
                    <a:pt x="637" y="88376"/>
                  </a:lnTo>
                  <a:lnTo>
                    <a:pt x="5597" y="98831"/>
                  </a:lnTo>
                  <a:lnTo>
                    <a:pt x="14400" y="107061"/>
                  </a:lnTo>
                  <a:lnTo>
                    <a:pt x="26414" y="111166"/>
                  </a:lnTo>
                  <a:lnTo>
                    <a:pt x="38487" y="110378"/>
                  </a:lnTo>
                  <a:lnTo>
                    <a:pt x="49238" y="105042"/>
                  </a:lnTo>
                  <a:lnTo>
                    <a:pt x="57287" y="95504"/>
                  </a:lnTo>
                  <a:lnTo>
                    <a:pt x="68316" y="81573"/>
                  </a:lnTo>
                  <a:lnTo>
                    <a:pt x="82648" y="70738"/>
                  </a:lnTo>
                  <a:lnTo>
                    <a:pt x="99502" y="63714"/>
                  </a:lnTo>
                  <a:lnTo>
                    <a:pt x="118095" y="61213"/>
                  </a:lnTo>
                  <a:lnTo>
                    <a:pt x="229288" y="61213"/>
                  </a:lnTo>
                  <a:lnTo>
                    <a:pt x="225379" y="53766"/>
                  </a:lnTo>
                  <a:lnTo>
                    <a:pt x="196478" y="25298"/>
                  </a:lnTo>
                  <a:lnTo>
                    <a:pt x="159958" y="6675"/>
                  </a:lnTo>
                  <a:lnTo>
                    <a:pt x="118095" y="0"/>
                  </a:lnTo>
                  <a:close/>
                </a:path>
                <a:path w="251459" h="439419">
                  <a:moveTo>
                    <a:pt x="118095" y="366268"/>
                  </a:moveTo>
                  <a:lnTo>
                    <a:pt x="106271" y="368728"/>
                  </a:lnTo>
                  <a:lnTo>
                    <a:pt x="96491" y="375380"/>
                  </a:lnTo>
                  <a:lnTo>
                    <a:pt x="89833" y="385127"/>
                  </a:lnTo>
                  <a:lnTo>
                    <a:pt x="87374" y="396875"/>
                  </a:lnTo>
                  <a:lnTo>
                    <a:pt x="87374" y="408305"/>
                  </a:lnTo>
                  <a:lnTo>
                    <a:pt x="89833" y="420641"/>
                  </a:lnTo>
                  <a:lnTo>
                    <a:pt x="96491" y="430323"/>
                  </a:lnTo>
                  <a:lnTo>
                    <a:pt x="106271" y="436647"/>
                  </a:lnTo>
                  <a:lnTo>
                    <a:pt x="118095" y="438912"/>
                  </a:lnTo>
                  <a:lnTo>
                    <a:pt x="130455" y="436647"/>
                  </a:lnTo>
                  <a:lnTo>
                    <a:pt x="140176" y="430323"/>
                  </a:lnTo>
                  <a:lnTo>
                    <a:pt x="146536" y="420641"/>
                  </a:lnTo>
                  <a:lnTo>
                    <a:pt x="148816" y="408305"/>
                  </a:lnTo>
                  <a:lnTo>
                    <a:pt x="148816" y="396875"/>
                  </a:lnTo>
                  <a:lnTo>
                    <a:pt x="146536" y="385127"/>
                  </a:lnTo>
                  <a:lnTo>
                    <a:pt x="140176" y="375380"/>
                  </a:lnTo>
                  <a:lnTo>
                    <a:pt x="130455" y="368728"/>
                  </a:lnTo>
                  <a:lnTo>
                    <a:pt x="118095" y="366268"/>
                  </a:lnTo>
                  <a:close/>
                </a:path>
              </a:pathLst>
            </a:custGeom>
            <a:solidFill>
              <a:srgbClr val="EBAF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991" y="1743455"/>
              <a:ext cx="436245" cy="64135"/>
            </a:xfrm>
            <a:custGeom>
              <a:avLst/>
              <a:gdLst/>
              <a:ahLst/>
              <a:cxnLst/>
              <a:rect l="l" t="t" r="r" b="b"/>
              <a:pathLst>
                <a:path w="436244" h="64135">
                  <a:moveTo>
                    <a:pt x="217932" y="0"/>
                  </a:moveTo>
                  <a:lnTo>
                    <a:pt x="149049" y="1633"/>
                  </a:lnTo>
                  <a:lnTo>
                    <a:pt x="89225" y="6181"/>
                  </a:lnTo>
                  <a:lnTo>
                    <a:pt x="42048" y="13112"/>
                  </a:lnTo>
                  <a:lnTo>
                    <a:pt x="0" y="32004"/>
                  </a:lnTo>
                  <a:lnTo>
                    <a:pt x="11110" y="42111"/>
                  </a:lnTo>
                  <a:lnTo>
                    <a:pt x="42048" y="50895"/>
                  </a:lnTo>
                  <a:lnTo>
                    <a:pt x="89225" y="57826"/>
                  </a:lnTo>
                  <a:lnTo>
                    <a:pt x="149049" y="62374"/>
                  </a:lnTo>
                  <a:lnTo>
                    <a:pt x="217932" y="64008"/>
                  </a:lnTo>
                  <a:lnTo>
                    <a:pt x="286814" y="62374"/>
                  </a:lnTo>
                  <a:lnTo>
                    <a:pt x="346638" y="57826"/>
                  </a:lnTo>
                  <a:lnTo>
                    <a:pt x="393815" y="50895"/>
                  </a:lnTo>
                  <a:lnTo>
                    <a:pt x="424753" y="42111"/>
                  </a:lnTo>
                  <a:lnTo>
                    <a:pt x="435864" y="32004"/>
                  </a:lnTo>
                  <a:lnTo>
                    <a:pt x="424753" y="21896"/>
                  </a:lnTo>
                  <a:lnTo>
                    <a:pt x="393815" y="13112"/>
                  </a:lnTo>
                  <a:lnTo>
                    <a:pt x="346638" y="6181"/>
                  </a:lnTo>
                  <a:lnTo>
                    <a:pt x="286814" y="1633"/>
                  </a:lnTo>
                  <a:lnTo>
                    <a:pt x="21793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400" y="1130807"/>
              <a:ext cx="9324340" cy="762000"/>
            </a:xfrm>
            <a:custGeom>
              <a:avLst/>
              <a:gdLst/>
              <a:ahLst/>
              <a:cxnLst/>
              <a:rect l="l" t="t" r="r" b="b"/>
              <a:pathLst>
                <a:path w="9324340" h="762000">
                  <a:moveTo>
                    <a:pt x="0" y="134238"/>
                  </a:moveTo>
                  <a:lnTo>
                    <a:pt x="0" y="127000"/>
                  </a:lnTo>
                  <a:lnTo>
                    <a:pt x="9075" y="86872"/>
                  </a:lnTo>
                  <a:lnTo>
                    <a:pt x="34348" y="52011"/>
                  </a:lnTo>
                  <a:lnTo>
                    <a:pt x="72886" y="24514"/>
                  </a:lnTo>
                  <a:lnTo>
                    <a:pt x="121757" y="6478"/>
                  </a:lnTo>
                  <a:lnTo>
                    <a:pt x="178028" y="0"/>
                  </a:lnTo>
                  <a:lnTo>
                    <a:pt x="9145778" y="0"/>
                  </a:lnTo>
                  <a:lnTo>
                    <a:pt x="9202042" y="6478"/>
                  </a:lnTo>
                  <a:lnTo>
                    <a:pt x="9250917" y="24514"/>
                  </a:lnTo>
                  <a:lnTo>
                    <a:pt x="9289466" y="52011"/>
                  </a:lnTo>
                  <a:lnTo>
                    <a:pt x="9314750" y="86872"/>
                  </a:lnTo>
                  <a:lnTo>
                    <a:pt x="9323832" y="127000"/>
                  </a:lnTo>
                  <a:lnTo>
                    <a:pt x="9323832" y="635000"/>
                  </a:lnTo>
                  <a:lnTo>
                    <a:pt x="9314750" y="675127"/>
                  </a:lnTo>
                  <a:lnTo>
                    <a:pt x="9289466" y="709988"/>
                  </a:lnTo>
                  <a:lnTo>
                    <a:pt x="9250917" y="737485"/>
                  </a:lnTo>
                  <a:lnTo>
                    <a:pt x="9202042" y="755521"/>
                  </a:lnTo>
                  <a:lnTo>
                    <a:pt x="9145778" y="762000"/>
                  </a:lnTo>
                  <a:lnTo>
                    <a:pt x="178028" y="762000"/>
                  </a:lnTo>
                  <a:lnTo>
                    <a:pt x="108734" y="752014"/>
                  </a:lnTo>
                  <a:lnTo>
                    <a:pt x="52146" y="724788"/>
                  </a:lnTo>
                  <a:lnTo>
                    <a:pt x="17259" y="687831"/>
                  </a:lnTo>
                </a:path>
              </a:pathLst>
            </a:custGeom>
            <a:ln w="18288">
              <a:solidFill>
                <a:srgbClr val="3076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07922" y="1276299"/>
            <a:ext cx="79470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10" dirty="0">
                <a:solidFill>
                  <a:srgbClr val="C00000"/>
                </a:solidFill>
                <a:latin typeface="Microsoft YaHei"/>
                <a:cs typeface="Microsoft YaHei"/>
              </a:rPr>
              <a:t>问题：</a:t>
            </a:r>
            <a:r>
              <a:rPr sz="2800" spc="-30" dirty="0">
                <a:solidFill>
                  <a:srgbClr val="0056A8"/>
                </a:solidFill>
                <a:latin typeface="Microsoft YaHei"/>
                <a:cs typeface="Microsoft YaHei"/>
              </a:rPr>
              <a:t>变速直线运动中位置函数与速度函数的联系.</a:t>
            </a:r>
            <a:endParaRPr sz="2800">
              <a:latin typeface="Microsoft YaHei"/>
              <a:cs typeface="Microsoft Ya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70532" y="5574601"/>
            <a:ext cx="8077200" cy="247650"/>
            <a:chOff x="1970532" y="5574601"/>
            <a:chExt cx="8077200" cy="247650"/>
          </a:xfrm>
        </p:grpSpPr>
        <p:sp>
          <p:nvSpPr>
            <p:cNvPr id="10" name="object 10"/>
            <p:cNvSpPr/>
            <p:nvPr/>
          </p:nvSpPr>
          <p:spPr>
            <a:xfrm>
              <a:off x="3810000" y="5669280"/>
              <a:ext cx="4535805" cy="143510"/>
            </a:xfrm>
            <a:custGeom>
              <a:avLst/>
              <a:gdLst/>
              <a:ahLst/>
              <a:cxnLst/>
              <a:rect l="l" t="t" r="r" b="b"/>
              <a:pathLst>
                <a:path w="4535805" h="143510">
                  <a:moveTo>
                    <a:pt x="4511548" y="0"/>
                  </a:moveTo>
                  <a:lnTo>
                    <a:pt x="23875" y="0"/>
                  </a:lnTo>
                  <a:lnTo>
                    <a:pt x="14573" y="1876"/>
                  </a:lnTo>
                  <a:lnTo>
                    <a:pt x="6984" y="6994"/>
                  </a:lnTo>
                  <a:lnTo>
                    <a:pt x="1873" y="14583"/>
                  </a:lnTo>
                  <a:lnTo>
                    <a:pt x="0" y="23876"/>
                  </a:lnTo>
                  <a:lnTo>
                    <a:pt x="0" y="119380"/>
                  </a:lnTo>
                  <a:lnTo>
                    <a:pt x="1873" y="128672"/>
                  </a:lnTo>
                  <a:lnTo>
                    <a:pt x="6984" y="136261"/>
                  </a:lnTo>
                  <a:lnTo>
                    <a:pt x="14573" y="141379"/>
                  </a:lnTo>
                  <a:lnTo>
                    <a:pt x="23875" y="143256"/>
                  </a:lnTo>
                  <a:lnTo>
                    <a:pt x="4511548" y="143256"/>
                  </a:lnTo>
                  <a:lnTo>
                    <a:pt x="4520850" y="141379"/>
                  </a:lnTo>
                  <a:lnTo>
                    <a:pt x="4528438" y="136261"/>
                  </a:lnTo>
                  <a:lnTo>
                    <a:pt x="4533550" y="128672"/>
                  </a:lnTo>
                  <a:lnTo>
                    <a:pt x="4535424" y="119380"/>
                  </a:lnTo>
                  <a:lnTo>
                    <a:pt x="4535424" y="23876"/>
                  </a:lnTo>
                  <a:lnTo>
                    <a:pt x="4533550" y="14583"/>
                  </a:lnTo>
                  <a:lnTo>
                    <a:pt x="4528438" y="6994"/>
                  </a:lnTo>
                  <a:lnTo>
                    <a:pt x="4520850" y="1876"/>
                  </a:lnTo>
                  <a:lnTo>
                    <a:pt x="4511548" y="0"/>
                  </a:lnTo>
                  <a:close/>
                </a:path>
              </a:pathLst>
            </a:custGeom>
            <a:solidFill>
              <a:srgbClr val="2B8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10000" y="5669280"/>
              <a:ext cx="4535805" cy="143510"/>
            </a:xfrm>
            <a:custGeom>
              <a:avLst/>
              <a:gdLst/>
              <a:ahLst/>
              <a:cxnLst/>
              <a:rect l="l" t="t" r="r" b="b"/>
              <a:pathLst>
                <a:path w="4535805" h="143510">
                  <a:moveTo>
                    <a:pt x="23875" y="143256"/>
                  </a:moveTo>
                  <a:lnTo>
                    <a:pt x="14573" y="141379"/>
                  </a:lnTo>
                  <a:lnTo>
                    <a:pt x="6984" y="136261"/>
                  </a:lnTo>
                  <a:lnTo>
                    <a:pt x="1873" y="128672"/>
                  </a:lnTo>
                  <a:lnTo>
                    <a:pt x="0" y="119380"/>
                  </a:lnTo>
                  <a:lnTo>
                    <a:pt x="0" y="23876"/>
                  </a:lnTo>
                  <a:lnTo>
                    <a:pt x="1873" y="14583"/>
                  </a:lnTo>
                  <a:lnTo>
                    <a:pt x="6984" y="6994"/>
                  </a:lnTo>
                  <a:lnTo>
                    <a:pt x="14573" y="1876"/>
                  </a:lnTo>
                  <a:lnTo>
                    <a:pt x="23875" y="0"/>
                  </a:lnTo>
                </a:path>
                <a:path w="4535805" h="143510">
                  <a:moveTo>
                    <a:pt x="4511548" y="0"/>
                  </a:moveTo>
                  <a:lnTo>
                    <a:pt x="4520850" y="1876"/>
                  </a:lnTo>
                  <a:lnTo>
                    <a:pt x="4528438" y="6994"/>
                  </a:lnTo>
                  <a:lnTo>
                    <a:pt x="4533550" y="14583"/>
                  </a:lnTo>
                  <a:lnTo>
                    <a:pt x="4535424" y="23876"/>
                  </a:lnTo>
                  <a:lnTo>
                    <a:pt x="4535424" y="119380"/>
                  </a:lnTo>
                  <a:lnTo>
                    <a:pt x="4533550" y="128672"/>
                  </a:lnTo>
                  <a:lnTo>
                    <a:pt x="4528438" y="136261"/>
                  </a:lnTo>
                  <a:lnTo>
                    <a:pt x="4520850" y="141379"/>
                  </a:lnTo>
                  <a:lnTo>
                    <a:pt x="4511548" y="143256"/>
                  </a:lnTo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70532" y="5699760"/>
              <a:ext cx="8077200" cy="100965"/>
            </a:xfrm>
            <a:custGeom>
              <a:avLst/>
              <a:gdLst/>
              <a:ahLst/>
              <a:cxnLst/>
              <a:rect l="l" t="t" r="r" b="b"/>
              <a:pathLst>
                <a:path w="8077200" h="100964">
                  <a:moveTo>
                    <a:pt x="7976616" y="50291"/>
                  </a:moveTo>
                  <a:lnTo>
                    <a:pt x="7909560" y="100583"/>
                  </a:lnTo>
                  <a:lnTo>
                    <a:pt x="8021320" y="67055"/>
                  </a:lnTo>
                  <a:lnTo>
                    <a:pt x="7976616" y="67055"/>
                  </a:lnTo>
                  <a:lnTo>
                    <a:pt x="7976616" y="50291"/>
                  </a:lnTo>
                  <a:close/>
                </a:path>
                <a:path w="8077200" h="100964">
                  <a:moveTo>
                    <a:pt x="7954264" y="33527"/>
                  </a:moveTo>
                  <a:lnTo>
                    <a:pt x="0" y="33527"/>
                  </a:lnTo>
                  <a:lnTo>
                    <a:pt x="0" y="67055"/>
                  </a:lnTo>
                  <a:lnTo>
                    <a:pt x="7954264" y="67055"/>
                  </a:lnTo>
                  <a:lnTo>
                    <a:pt x="7976616" y="50291"/>
                  </a:lnTo>
                  <a:lnTo>
                    <a:pt x="7954264" y="33527"/>
                  </a:lnTo>
                  <a:close/>
                </a:path>
                <a:path w="8077200" h="100964">
                  <a:moveTo>
                    <a:pt x="8021320" y="33527"/>
                  </a:moveTo>
                  <a:lnTo>
                    <a:pt x="7976616" y="33527"/>
                  </a:lnTo>
                  <a:lnTo>
                    <a:pt x="7976616" y="67055"/>
                  </a:lnTo>
                  <a:lnTo>
                    <a:pt x="8021320" y="67055"/>
                  </a:lnTo>
                  <a:lnTo>
                    <a:pt x="8077200" y="50291"/>
                  </a:lnTo>
                  <a:lnTo>
                    <a:pt x="8021320" y="33527"/>
                  </a:lnTo>
                  <a:close/>
                </a:path>
                <a:path w="8077200" h="100964">
                  <a:moveTo>
                    <a:pt x="7909560" y="0"/>
                  </a:moveTo>
                  <a:lnTo>
                    <a:pt x="7976616" y="50291"/>
                  </a:lnTo>
                  <a:lnTo>
                    <a:pt x="7976616" y="33527"/>
                  </a:lnTo>
                  <a:lnTo>
                    <a:pt x="8021320" y="33527"/>
                  </a:lnTo>
                  <a:lnTo>
                    <a:pt x="7909560" y="0"/>
                  </a:lnTo>
                  <a:close/>
                </a:path>
              </a:pathLst>
            </a:custGeom>
            <a:solidFill>
              <a:srgbClr val="4545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26208" y="5586984"/>
              <a:ext cx="0" cy="146685"/>
            </a:xfrm>
            <a:custGeom>
              <a:avLst/>
              <a:gdLst/>
              <a:ahLst/>
              <a:cxnLst/>
              <a:rect l="l" t="t" r="r" b="b"/>
              <a:pathLst>
                <a:path h="146685">
                  <a:moveTo>
                    <a:pt x="0" y="0"/>
                  </a:moveTo>
                  <a:lnTo>
                    <a:pt x="0" y="146303"/>
                  </a:lnTo>
                </a:path>
              </a:pathLst>
            </a:custGeom>
            <a:ln w="24384">
              <a:solidFill>
                <a:srgbClr val="4545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85338" y="5709709"/>
            <a:ext cx="24574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i="1" spc="-50" dirty="0">
                <a:latin typeface="Times New Roman"/>
                <a:cs typeface="Times New Roman"/>
              </a:rPr>
              <a:t>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65166" y="5770449"/>
            <a:ext cx="19558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i="1" spc="-50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97808" y="5541264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408"/>
                </a:lnTo>
              </a:path>
            </a:pathLst>
          </a:custGeom>
          <a:ln w="24384">
            <a:solidFill>
              <a:srgbClr val="0056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51284" y="5715827"/>
            <a:ext cx="705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="1" i="1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S</a:t>
            </a:r>
            <a:r>
              <a:rPr sz="3600" b="1" i="1" spc="-254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300" spc="90" dirty="0">
                <a:solidFill>
                  <a:srgbClr val="0055A7"/>
                </a:solidFill>
                <a:latin typeface="Symbol"/>
                <a:cs typeface="Symbol"/>
              </a:rPr>
              <a:t></a:t>
            </a:r>
            <a:r>
              <a:rPr sz="3600" b="1" i="1" spc="135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a</a:t>
            </a:r>
            <a:r>
              <a:rPr sz="3600" b="1" i="1" spc="-555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300" spc="-50" dirty="0">
                <a:solidFill>
                  <a:srgbClr val="0055A7"/>
                </a:solidFill>
                <a:latin typeface="Symbol"/>
                <a:cs typeface="Symbol"/>
              </a:rPr>
              <a:t>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57616" y="5550408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407"/>
                </a:lnTo>
              </a:path>
            </a:pathLst>
          </a:custGeom>
          <a:ln w="24384">
            <a:solidFill>
              <a:srgbClr val="0056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010842" y="5724594"/>
            <a:ext cx="69342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600" b="1" i="1" spc="-30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S</a:t>
            </a:r>
            <a:r>
              <a:rPr sz="3600" b="1" i="1" spc="-262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300" spc="90" dirty="0">
                <a:solidFill>
                  <a:srgbClr val="0055A7"/>
                </a:solidFill>
                <a:latin typeface="Symbol"/>
                <a:cs typeface="Symbol"/>
              </a:rPr>
              <a:t></a:t>
            </a:r>
            <a:r>
              <a:rPr sz="3600" b="1" i="1" spc="135" baseline="-8101" dirty="0">
                <a:solidFill>
                  <a:srgbClr val="0055A7"/>
                </a:solidFill>
                <a:latin typeface="Times New Roman"/>
                <a:cs typeface="Times New Roman"/>
              </a:rPr>
              <a:t>b</a:t>
            </a:r>
            <a:r>
              <a:rPr sz="2300" spc="90" dirty="0">
                <a:solidFill>
                  <a:srgbClr val="0055A7"/>
                </a:solidFill>
                <a:latin typeface="Symbol"/>
                <a:cs typeface="Symbol"/>
              </a:rPr>
              <a:t>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01240" y="5546978"/>
            <a:ext cx="5941060" cy="348615"/>
          </a:xfrm>
          <a:custGeom>
            <a:avLst/>
            <a:gdLst/>
            <a:ahLst/>
            <a:cxnLst/>
            <a:rect l="l" t="t" r="r" b="b"/>
            <a:pathLst>
              <a:path w="5941059" h="348614">
                <a:moveTo>
                  <a:pt x="1499616" y="58293"/>
                </a:moveTo>
                <a:lnTo>
                  <a:pt x="1468221" y="46101"/>
                </a:lnTo>
                <a:lnTo>
                  <a:pt x="1356106" y="2540"/>
                </a:lnTo>
                <a:lnTo>
                  <a:pt x="1349756" y="0"/>
                </a:lnTo>
                <a:lnTo>
                  <a:pt x="1342771" y="3175"/>
                </a:lnTo>
                <a:lnTo>
                  <a:pt x="1340358" y="9398"/>
                </a:lnTo>
                <a:lnTo>
                  <a:pt x="1337818" y="15748"/>
                </a:lnTo>
                <a:lnTo>
                  <a:pt x="1340993" y="22733"/>
                </a:lnTo>
                <a:lnTo>
                  <a:pt x="1401000" y="46101"/>
                </a:lnTo>
                <a:lnTo>
                  <a:pt x="131064" y="46101"/>
                </a:lnTo>
                <a:lnTo>
                  <a:pt x="131064" y="70485"/>
                </a:lnTo>
                <a:lnTo>
                  <a:pt x="1400937" y="70485"/>
                </a:lnTo>
                <a:lnTo>
                  <a:pt x="1432280" y="58293"/>
                </a:lnTo>
                <a:lnTo>
                  <a:pt x="1340993" y="93814"/>
                </a:lnTo>
                <a:lnTo>
                  <a:pt x="1337818" y="100888"/>
                </a:lnTo>
                <a:lnTo>
                  <a:pt x="1340358" y="107162"/>
                </a:lnTo>
                <a:lnTo>
                  <a:pt x="1342771" y="113436"/>
                </a:lnTo>
                <a:lnTo>
                  <a:pt x="1349756" y="116547"/>
                </a:lnTo>
                <a:lnTo>
                  <a:pt x="1468259" y="70485"/>
                </a:lnTo>
                <a:lnTo>
                  <a:pt x="1499616" y="58293"/>
                </a:lnTo>
                <a:close/>
              </a:path>
              <a:path w="5941059" h="348614">
                <a:moveTo>
                  <a:pt x="5940552" y="289941"/>
                </a:moveTo>
                <a:lnTo>
                  <a:pt x="5909195" y="277749"/>
                </a:lnTo>
                <a:lnTo>
                  <a:pt x="5790692" y="231686"/>
                </a:lnTo>
                <a:lnTo>
                  <a:pt x="5783707" y="234797"/>
                </a:lnTo>
                <a:lnTo>
                  <a:pt x="5781294" y="241071"/>
                </a:lnTo>
                <a:lnTo>
                  <a:pt x="5778754" y="247345"/>
                </a:lnTo>
                <a:lnTo>
                  <a:pt x="5781929" y="254406"/>
                </a:lnTo>
                <a:lnTo>
                  <a:pt x="5841873" y="277749"/>
                </a:lnTo>
                <a:lnTo>
                  <a:pt x="0" y="277749"/>
                </a:lnTo>
                <a:lnTo>
                  <a:pt x="0" y="302133"/>
                </a:lnTo>
                <a:lnTo>
                  <a:pt x="5841873" y="302133"/>
                </a:lnTo>
                <a:lnTo>
                  <a:pt x="5781929" y="325462"/>
                </a:lnTo>
                <a:lnTo>
                  <a:pt x="5778754" y="332536"/>
                </a:lnTo>
                <a:lnTo>
                  <a:pt x="5781294" y="338810"/>
                </a:lnTo>
                <a:lnTo>
                  <a:pt x="5783707" y="345084"/>
                </a:lnTo>
                <a:lnTo>
                  <a:pt x="5790692" y="348195"/>
                </a:lnTo>
                <a:lnTo>
                  <a:pt x="5909195" y="302133"/>
                </a:lnTo>
                <a:lnTo>
                  <a:pt x="5940552" y="28994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17619" y="3044393"/>
            <a:ext cx="185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Microsoft YaHei"/>
                <a:cs typeface="Microsoft YaHei"/>
              </a:rPr>
              <a:t>运动路程为：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8049" y="2970054"/>
            <a:ext cx="1066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63404" y="3351271"/>
            <a:ext cx="25146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750" i="1" spc="-25" dirty="0">
                <a:latin typeface="Times New Roman"/>
                <a:cs typeface="Times New Roman"/>
              </a:rPr>
              <a:t>T</a:t>
            </a:r>
            <a:r>
              <a:rPr sz="1875" spc="-37" baseline="-20000" dirty="0">
                <a:latin typeface="Times New Roman"/>
                <a:cs typeface="Times New Roman"/>
              </a:rPr>
              <a:t>1</a:t>
            </a:r>
            <a:endParaRPr sz="1875" baseline="-20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15242" y="2979096"/>
            <a:ext cx="906144" cy="488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i="1" spc="55" dirty="0">
                <a:latin typeface="Times New Roman"/>
                <a:cs typeface="Times New Roman"/>
              </a:rPr>
              <a:t>v</a:t>
            </a:r>
            <a:r>
              <a:rPr sz="3000" spc="55" dirty="0">
                <a:latin typeface="Times New Roman"/>
                <a:cs typeface="Times New Roman"/>
              </a:rPr>
              <a:t>(</a:t>
            </a:r>
            <a:r>
              <a:rPr sz="3000" i="1" spc="55" dirty="0">
                <a:latin typeface="Times New Roman"/>
                <a:cs typeface="Times New Roman"/>
              </a:rPr>
              <a:t>t</a:t>
            </a:r>
            <a:r>
              <a:rPr sz="3000" spc="55" dirty="0">
                <a:latin typeface="Times New Roman"/>
                <a:cs typeface="Times New Roman"/>
              </a:rPr>
              <a:t>)</a:t>
            </a:r>
            <a:r>
              <a:rPr sz="3000" i="1" spc="55" dirty="0">
                <a:latin typeface="Times New Roman"/>
                <a:cs typeface="Times New Roman"/>
              </a:rPr>
              <a:t>dt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61741" y="2924563"/>
            <a:ext cx="184785" cy="720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50" spc="-50" dirty="0">
                <a:latin typeface="Symbol"/>
                <a:cs typeface="Symbol"/>
              </a:rPr>
              <a:t></a:t>
            </a:r>
            <a:endParaRPr sz="45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6171" y="2160129"/>
            <a:ext cx="10469245" cy="983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500" spc="10" dirty="0">
                <a:latin typeface="Microsoft YaHei"/>
                <a:cs typeface="Microsoft YaHei"/>
              </a:rPr>
              <a:t>设某物体作直线运动，速度是</a:t>
            </a:r>
            <a:r>
              <a:rPr sz="2900" i="1" dirty="0">
                <a:latin typeface="Times New Roman"/>
                <a:cs typeface="Times New Roman"/>
              </a:rPr>
              <a:t>v</a:t>
            </a:r>
            <a:r>
              <a:rPr sz="2900" i="1" spc="2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Symbol"/>
                <a:cs typeface="Symbol"/>
              </a:rPr>
              <a:t></a:t>
            </a:r>
            <a:r>
              <a:rPr sz="2900" spc="125" dirty="0">
                <a:latin typeface="Times New Roman"/>
                <a:cs typeface="Times New Roman"/>
              </a:rPr>
              <a:t> </a:t>
            </a:r>
            <a:r>
              <a:rPr sz="2900" i="1" spc="100" dirty="0">
                <a:latin typeface="Times New Roman"/>
                <a:cs typeface="Times New Roman"/>
              </a:rPr>
              <a:t>v</a:t>
            </a:r>
            <a:r>
              <a:rPr sz="2900" spc="100" dirty="0">
                <a:latin typeface="Times New Roman"/>
                <a:cs typeface="Times New Roman"/>
              </a:rPr>
              <a:t>(</a:t>
            </a:r>
            <a:r>
              <a:rPr sz="2900" i="1" spc="100" dirty="0">
                <a:latin typeface="Times New Roman"/>
                <a:cs typeface="Times New Roman"/>
              </a:rPr>
              <a:t>t</a:t>
            </a:r>
            <a:r>
              <a:rPr sz="2900" spc="100" dirty="0">
                <a:latin typeface="Times New Roman"/>
                <a:cs typeface="Times New Roman"/>
              </a:rPr>
              <a:t>)</a:t>
            </a:r>
            <a:r>
              <a:rPr sz="2500" spc="130" dirty="0">
                <a:latin typeface="Microsoft YaHei"/>
                <a:cs typeface="Microsoft YaHei"/>
              </a:rPr>
              <a:t>，且</a:t>
            </a:r>
            <a:r>
              <a:rPr sz="2900" i="1" spc="80" dirty="0">
                <a:latin typeface="Times New Roman"/>
                <a:cs typeface="Times New Roman"/>
              </a:rPr>
              <a:t>v</a:t>
            </a:r>
            <a:r>
              <a:rPr sz="2900" spc="80" dirty="0">
                <a:latin typeface="Times New Roman"/>
                <a:cs typeface="Times New Roman"/>
              </a:rPr>
              <a:t>(</a:t>
            </a:r>
            <a:r>
              <a:rPr sz="2900" i="1" spc="80" dirty="0">
                <a:latin typeface="Times New Roman"/>
                <a:cs typeface="Times New Roman"/>
              </a:rPr>
              <a:t>t</a:t>
            </a:r>
            <a:r>
              <a:rPr sz="2900" spc="100" dirty="0">
                <a:latin typeface="Times New Roman"/>
                <a:cs typeface="Times New Roman"/>
              </a:rPr>
              <a:t>) </a:t>
            </a:r>
            <a:r>
              <a:rPr sz="2900" dirty="0">
                <a:latin typeface="Symbol"/>
                <a:cs typeface="Symbol"/>
              </a:rPr>
              <a:t></a:t>
            </a:r>
            <a:r>
              <a:rPr sz="2900" spc="114" dirty="0">
                <a:latin typeface="Times New Roman"/>
                <a:cs typeface="Times New Roman"/>
              </a:rPr>
              <a:t> 0</a:t>
            </a:r>
            <a:r>
              <a:rPr sz="2500" spc="15" dirty="0">
                <a:latin typeface="Microsoft YaHei"/>
                <a:cs typeface="Microsoft YaHei"/>
              </a:rPr>
              <a:t>，在时间段</a:t>
            </a:r>
            <a:r>
              <a:rPr sz="2900" spc="-55" dirty="0">
                <a:latin typeface="Times New Roman"/>
                <a:cs typeface="Times New Roman"/>
              </a:rPr>
              <a:t>[</a:t>
            </a:r>
            <a:r>
              <a:rPr sz="2900" i="1" spc="-55" dirty="0">
                <a:latin typeface="Times New Roman"/>
                <a:cs typeface="Times New Roman"/>
              </a:rPr>
              <a:t>T</a:t>
            </a:r>
            <a:r>
              <a:rPr sz="2550" spc="-82" baseline="-24509" dirty="0">
                <a:latin typeface="Times New Roman"/>
                <a:cs typeface="Times New Roman"/>
              </a:rPr>
              <a:t>1</a:t>
            </a:r>
            <a:r>
              <a:rPr sz="2900" spc="-55" dirty="0">
                <a:latin typeface="Times New Roman"/>
                <a:cs typeface="Times New Roman"/>
              </a:rPr>
              <a:t>,</a:t>
            </a:r>
            <a:r>
              <a:rPr sz="2900" i="1" spc="-55" dirty="0">
                <a:latin typeface="Times New Roman"/>
                <a:cs typeface="Times New Roman"/>
              </a:rPr>
              <a:t>T</a:t>
            </a:r>
            <a:r>
              <a:rPr sz="2550" spc="-82" baseline="-24509" dirty="0">
                <a:latin typeface="Times New Roman"/>
                <a:cs typeface="Times New Roman"/>
              </a:rPr>
              <a:t>2</a:t>
            </a:r>
            <a:r>
              <a:rPr sz="2550" spc="-75" baseline="-24509" dirty="0">
                <a:latin typeface="Times New Roman"/>
                <a:cs typeface="Times New Roman"/>
              </a:rPr>
              <a:t> </a:t>
            </a:r>
            <a:r>
              <a:rPr sz="2900" spc="75" dirty="0">
                <a:latin typeface="Times New Roman"/>
                <a:cs typeface="Times New Roman"/>
              </a:rPr>
              <a:t>]</a:t>
            </a:r>
            <a:r>
              <a:rPr sz="2500" spc="-25" dirty="0">
                <a:latin typeface="Microsoft YaHei"/>
                <a:cs typeface="Microsoft YaHei"/>
              </a:rPr>
              <a:t>内：</a:t>
            </a:r>
            <a:endParaRPr sz="2500">
              <a:latin typeface="Microsoft YaHei"/>
              <a:cs typeface="Microsoft YaHei"/>
            </a:endParaRPr>
          </a:p>
          <a:p>
            <a:pPr marR="183515" algn="ctr">
              <a:lnSpc>
                <a:spcPct val="100000"/>
              </a:lnSpc>
              <a:spcBef>
                <a:spcPts val="1925"/>
              </a:spcBef>
            </a:pPr>
            <a:r>
              <a:rPr sz="1750" i="1" spc="-50" dirty="0">
                <a:latin typeface="Times New Roman"/>
                <a:cs typeface="Times New Roman"/>
              </a:rPr>
              <a:t>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68247" y="3811392"/>
            <a:ext cx="604075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Microsoft YaHei"/>
                <a:cs typeface="Microsoft YaHei"/>
              </a:rPr>
              <a:t>又设位置函数为</a:t>
            </a:r>
            <a:r>
              <a:rPr sz="2400" spc="-20" dirty="0">
                <a:latin typeface="Microsoft YaHei"/>
                <a:cs typeface="Microsoft YaHei"/>
              </a:rPr>
              <a:t>s(t</a:t>
            </a:r>
            <a:r>
              <a:rPr sz="2400" spc="-15" dirty="0">
                <a:latin typeface="Microsoft YaHei"/>
                <a:cs typeface="Microsoft YaHei"/>
              </a:rPr>
              <a:t>)，则路程为：</a:t>
            </a:r>
            <a:r>
              <a:rPr sz="2550" i="1" dirty="0">
                <a:latin typeface="Times New Roman"/>
                <a:cs typeface="Times New Roman"/>
              </a:rPr>
              <a:t>s</a:t>
            </a:r>
            <a:r>
              <a:rPr sz="2550" dirty="0">
                <a:latin typeface="Times New Roman"/>
                <a:cs typeface="Times New Roman"/>
              </a:rPr>
              <a:t>(</a:t>
            </a:r>
            <a:r>
              <a:rPr sz="2550" i="1" dirty="0">
                <a:latin typeface="Times New Roman"/>
                <a:cs typeface="Times New Roman"/>
              </a:rPr>
              <a:t>T</a:t>
            </a:r>
            <a:r>
              <a:rPr sz="2175" baseline="-24904" dirty="0">
                <a:latin typeface="Times New Roman"/>
                <a:cs typeface="Times New Roman"/>
              </a:rPr>
              <a:t>2</a:t>
            </a:r>
            <a:r>
              <a:rPr sz="2175" spc="-97" baseline="-24904" dirty="0">
                <a:latin typeface="Times New Roman"/>
                <a:cs typeface="Times New Roman"/>
              </a:rPr>
              <a:t> </a:t>
            </a:r>
            <a:r>
              <a:rPr sz="2550" spc="-95" dirty="0">
                <a:latin typeface="Times New Roman"/>
                <a:cs typeface="Times New Roman"/>
              </a:rPr>
              <a:t>) </a:t>
            </a:r>
            <a:r>
              <a:rPr sz="2550" dirty="0">
                <a:latin typeface="Symbol"/>
                <a:cs typeface="Symbol"/>
              </a:rPr>
              <a:t></a:t>
            </a:r>
            <a:r>
              <a:rPr sz="2550" spc="-145" dirty="0">
                <a:latin typeface="Times New Roman"/>
                <a:cs typeface="Times New Roman"/>
              </a:rPr>
              <a:t> </a:t>
            </a:r>
            <a:r>
              <a:rPr sz="2550" i="1" spc="-80" dirty="0">
                <a:latin typeface="Times New Roman"/>
                <a:cs typeface="Times New Roman"/>
              </a:rPr>
              <a:t>s</a:t>
            </a:r>
            <a:r>
              <a:rPr sz="2550" spc="-80" dirty="0">
                <a:latin typeface="Times New Roman"/>
                <a:cs typeface="Times New Roman"/>
              </a:rPr>
              <a:t>(</a:t>
            </a:r>
            <a:r>
              <a:rPr sz="2550" i="1" spc="-80" dirty="0">
                <a:latin typeface="Times New Roman"/>
                <a:cs typeface="Times New Roman"/>
              </a:rPr>
              <a:t>T</a:t>
            </a:r>
            <a:r>
              <a:rPr sz="2175" spc="-120" baseline="-24904" dirty="0">
                <a:latin typeface="Times New Roman"/>
                <a:cs typeface="Times New Roman"/>
              </a:rPr>
              <a:t>1</a:t>
            </a:r>
            <a:r>
              <a:rPr sz="2175" spc="-292" baseline="-24904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44859" y="5027798"/>
            <a:ext cx="100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55A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05110" y="4810778"/>
            <a:ext cx="113220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14730" algn="l"/>
              </a:tabLst>
            </a:pPr>
            <a:r>
              <a:rPr sz="1650" spc="-50" dirty="0">
                <a:solidFill>
                  <a:srgbClr val="0055A7"/>
                </a:solidFill>
                <a:latin typeface="Times New Roman"/>
                <a:cs typeface="Times New Roman"/>
              </a:rPr>
              <a:t>2</a:t>
            </a:r>
            <a:r>
              <a:rPr sz="1650" dirty="0">
                <a:solidFill>
                  <a:srgbClr val="0055A7"/>
                </a:solidFill>
                <a:latin typeface="Times New Roman"/>
                <a:cs typeface="Times New Roman"/>
              </a:rPr>
              <a:t>	</a:t>
            </a:r>
            <a:r>
              <a:rPr sz="1650" spc="-50" dirty="0">
                <a:solidFill>
                  <a:srgbClr val="0055A7"/>
                </a:solidFill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57590" y="4914745"/>
            <a:ext cx="14160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i="1" spc="-50" dirty="0">
                <a:solidFill>
                  <a:srgbClr val="0055A7"/>
                </a:solidFill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66884" y="4442202"/>
            <a:ext cx="3825240" cy="583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56895">
              <a:lnSpc>
                <a:spcPts val="1470"/>
              </a:lnSpc>
              <a:spcBef>
                <a:spcPts val="110"/>
              </a:spcBef>
            </a:pPr>
            <a:r>
              <a:rPr sz="1650" i="1" spc="-50" dirty="0">
                <a:solidFill>
                  <a:srgbClr val="0055A7"/>
                </a:solidFill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  <a:p>
            <a:pPr marL="38100">
              <a:lnSpc>
                <a:spcPts val="2910"/>
              </a:lnSpc>
              <a:tabLst>
                <a:tab pos="660400" algn="l"/>
              </a:tabLst>
            </a:pPr>
            <a:r>
              <a:rPr sz="2850" spc="-50" dirty="0">
                <a:solidFill>
                  <a:srgbClr val="0055A7"/>
                </a:solidFill>
                <a:latin typeface="Symbol"/>
                <a:cs typeface="Symbol"/>
              </a:rPr>
              <a:t></a:t>
            </a:r>
            <a:r>
              <a:rPr sz="2850" dirty="0">
                <a:solidFill>
                  <a:srgbClr val="0055A7"/>
                </a:solidFill>
                <a:latin typeface="Times New Roman"/>
                <a:cs typeface="Times New Roman"/>
              </a:rPr>
              <a:t>	</a:t>
            </a:r>
            <a:r>
              <a:rPr sz="1800" baseline="81018" dirty="0">
                <a:solidFill>
                  <a:srgbClr val="0055A7"/>
                </a:solidFill>
                <a:latin typeface="Times New Roman"/>
                <a:cs typeface="Times New Roman"/>
              </a:rPr>
              <a:t>2</a:t>
            </a:r>
            <a:r>
              <a:rPr sz="1800" spc="397" baseline="81018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v</a:t>
            </a:r>
            <a:r>
              <a:rPr sz="2850" dirty="0">
                <a:solidFill>
                  <a:srgbClr val="0055A7"/>
                </a:solidFill>
                <a:latin typeface="Times New Roman"/>
                <a:cs typeface="Times New Roman"/>
              </a:rPr>
              <a:t>(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t</a:t>
            </a:r>
            <a:r>
              <a:rPr sz="2850" dirty="0">
                <a:solidFill>
                  <a:srgbClr val="0055A7"/>
                </a:solidFill>
                <a:latin typeface="Times New Roman"/>
                <a:cs typeface="Times New Roman"/>
              </a:rPr>
              <a:t>)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dt</a:t>
            </a:r>
            <a:r>
              <a:rPr sz="2850" i="1" spc="110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dirty="0">
                <a:solidFill>
                  <a:srgbClr val="0055A7"/>
                </a:solidFill>
                <a:latin typeface="Symbol"/>
                <a:cs typeface="Symbol"/>
              </a:rPr>
              <a:t></a:t>
            </a:r>
            <a:r>
              <a:rPr sz="2850" spc="-10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s</a:t>
            </a:r>
            <a:r>
              <a:rPr sz="2850" dirty="0">
                <a:solidFill>
                  <a:srgbClr val="0055A7"/>
                </a:solidFill>
                <a:latin typeface="Times New Roman"/>
                <a:cs typeface="Times New Roman"/>
              </a:rPr>
              <a:t>(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T</a:t>
            </a:r>
            <a:r>
              <a:rPr sz="2850" i="1" spc="295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spc="-10" dirty="0">
                <a:solidFill>
                  <a:srgbClr val="0055A7"/>
                </a:solidFill>
                <a:latin typeface="Times New Roman"/>
                <a:cs typeface="Times New Roman"/>
              </a:rPr>
              <a:t>)</a:t>
            </a:r>
            <a:r>
              <a:rPr sz="2850" spc="-229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spc="-25" dirty="0">
                <a:solidFill>
                  <a:srgbClr val="0055A7"/>
                </a:solidFill>
                <a:latin typeface="Symbol"/>
                <a:cs typeface="Symbol"/>
              </a:rPr>
              <a:t></a:t>
            </a:r>
            <a:r>
              <a:rPr sz="2850" spc="-190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s</a:t>
            </a:r>
            <a:r>
              <a:rPr sz="2850" dirty="0">
                <a:solidFill>
                  <a:srgbClr val="0055A7"/>
                </a:solidFill>
                <a:latin typeface="Times New Roman"/>
                <a:cs typeface="Times New Roman"/>
              </a:rPr>
              <a:t>(</a:t>
            </a:r>
            <a:r>
              <a:rPr sz="2850" i="1" dirty="0">
                <a:solidFill>
                  <a:srgbClr val="0055A7"/>
                </a:solidFill>
                <a:latin typeface="Times New Roman"/>
                <a:cs typeface="Times New Roman"/>
              </a:rPr>
              <a:t>T</a:t>
            </a:r>
            <a:r>
              <a:rPr sz="2850" i="1" spc="-30" dirty="0">
                <a:solidFill>
                  <a:srgbClr val="0055A7"/>
                </a:solidFill>
                <a:latin typeface="Times New Roman"/>
                <a:cs typeface="Times New Roman"/>
              </a:rPr>
              <a:t> </a:t>
            </a:r>
            <a:r>
              <a:rPr sz="2850" spc="-25" dirty="0">
                <a:solidFill>
                  <a:srgbClr val="0055A7"/>
                </a:solidFill>
                <a:latin typeface="Times New Roman"/>
                <a:cs typeface="Times New Roman"/>
              </a:rPr>
              <a:t>).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39510" y="4512373"/>
            <a:ext cx="16065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310" dirty="0">
                <a:solidFill>
                  <a:srgbClr val="0055A7"/>
                </a:solidFill>
                <a:latin typeface="Symbol"/>
                <a:cs typeface="Symbol"/>
              </a:rPr>
              <a:t></a:t>
            </a:r>
            <a:endParaRPr sz="43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Calibri</vt:lpstr>
      <vt:lpstr>Symbol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bohong pan</cp:lastModifiedBy>
  <cp:revision>2</cp:revision>
  <dcterms:created xsi:type="dcterms:W3CDTF">2026-07-01T07:49:46Z</dcterms:created>
  <dcterms:modified xsi:type="dcterms:W3CDTF">2026-07-01T08:52:25Z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2026-07-01T00:00:00Z</vt:filetime>
  </property>
  <property fmtid="{D5CDD505-2E9C-101B-9397-08002B2CF9AE}" pid="6" name="Producer">
    <vt:lpwstr>www.ilovepdf.com</vt:lpwstr>
  </property>
</Properties>
</file>